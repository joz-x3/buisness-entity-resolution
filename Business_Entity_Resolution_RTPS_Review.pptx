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96EC8"/>
                </a:solidFill>
              </a:defRPr>
            </a:pPr>
            <a:r>
              <a:rPr dirty="0"/>
              <a:t>REAL-TIME </a:t>
            </a:r>
            <a:r>
              <a:rPr lang="en-IN" dirty="0"/>
              <a:t>PROBLEM SOLVING </a:t>
            </a:r>
            <a:r>
              <a:rPr dirty="0"/>
              <a:t>(RTPS) | MACHINE LEARNING REVIEW</a:t>
            </a:r>
          </a:p>
          <a:p>
            <a:pPr>
              <a:defRPr sz="2200" b="1">
                <a:solidFill>
                  <a:srgbClr val="142341"/>
                </a:solidFill>
              </a:defRPr>
            </a:pPr>
            <a:r>
              <a:rPr dirty="0"/>
              <a:t>Problem Statement: Multi-Source Business Entity Resolution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rtlCol="0" anchor="ctr"/>
          <a:lstStyle/>
          <a:p>
            <a:pPr algn="ctr">
              <a:defRPr sz="1600" b="1">
                <a:solidFill>
                  <a:srgbClr val="142341"/>
                </a:solidFill>
              </a:defRPr>
            </a:pPr>
            <a:r>
              <a:t>The Core Problem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96EC8"/>
                </a:solidFill>
              </a:rPr>
              <a:t>• Objective: </a:t>
            </a:r>
            <a:r>
              <a:rPr sz="1150">
                <a:solidFill>
                  <a:srgbClr val="232D3C"/>
                </a:solidFill>
              </a:rPr>
              <a:t>Determine which business records from multiple independent databases refer to the exact same real-world business entity.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96EC8"/>
                </a:solidFill>
              </a:rPr>
              <a:t>• Heterogeneous Formats: </a:t>
            </a:r>
            <a:r>
              <a:rPr sz="1150">
                <a:solidFill>
                  <a:srgbClr val="232D3C"/>
                </a:solidFill>
              </a:rPr>
              <a:t>Source 1 has clean reference records. Source 2 and Source 3 come from secondary vendors with noisy, unstandardized formats.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96EC8"/>
                </a:solidFill>
              </a:rPr>
              <a:t>• No Shared Primary Keys: </a:t>
            </a:r>
            <a:r>
              <a:rPr sz="1150">
                <a:solidFill>
                  <a:srgbClr val="232D3C"/>
                </a:solidFill>
              </a:rPr>
              <a:t>Databases have no common unique ID or registration number, making simple database joins impossible.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96EC8"/>
                </a:solidFill>
              </a:rPr>
              <a:t>• Real-World Noise: </a:t>
            </a:r>
            <a:r>
              <a:rPr sz="1150">
                <a:solidFill>
                  <a:srgbClr val="232D3C"/>
                </a:solidFill>
              </a:rPr>
              <a:t>Variations in business names (e.g. 'Inc' vs 'Incorporated', missing words) and rearranged street addresses.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96EC8"/>
                </a:solidFill>
              </a:rPr>
              <a:t>• The Goal: </a:t>
            </a:r>
            <a:r>
              <a:rPr sz="1150">
                <a:solidFill>
                  <a:srgbClr val="232D3C"/>
                </a:solidFill>
              </a:rPr>
              <a:t>Link each Source 1 business to its exact matching entries in Source 2 and Source 3 automatically using Machine Learning.</a:t>
            </a:r>
          </a:p>
        </p:txBody>
      </p:sp>
      <p:pic>
        <p:nvPicPr>
          <p:cNvPr id="4" name="Picture 3" descr="WhatsApp Image 2026-10-14 at 10.52.30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54480"/>
            <a:ext cx="530352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26480" y="5760720"/>
            <a:ext cx="5303520" cy="64008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000" b="1">
                <a:solidFill>
                  <a:srgbClr val="142341"/>
                </a:solidFill>
              </a:defRPr>
            </a:pPr>
            <a:r>
              <a:t>Illustration: One business entity, three representations, each from a different vendor with NO shared ID.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96EC8"/>
                </a:solidFill>
              </a:defRPr>
            </a:pPr>
            <a:r>
              <a:rPr dirty="0"/>
              <a:t>REAL-TIME </a:t>
            </a:r>
            <a:r>
              <a:rPr lang="en-IN" dirty="0"/>
              <a:t>PROBLEM SOLVING </a:t>
            </a:r>
            <a:r>
              <a:rPr dirty="0"/>
              <a:t>(RTPS) | MACHINE LEARNING REVIEW</a:t>
            </a:r>
          </a:p>
          <a:p>
            <a:pPr>
              <a:defRPr sz="2200" b="1">
                <a:solidFill>
                  <a:srgbClr val="142341"/>
                </a:solidFill>
              </a:defRPr>
            </a:pPr>
            <a:r>
              <a:rPr dirty="0"/>
              <a:t>How We Are Going to Solve It: 2-Stage Architecture</a:t>
            </a:r>
          </a:p>
        </p:txBody>
      </p:sp>
      <p:pic>
        <p:nvPicPr>
          <p:cNvPr id="3" name="Picture 2" descr="WhatsApp Image 2026-10-14 at 10.52.30 AM (2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30352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5760720"/>
            <a:ext cx="5303520" cy="64008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000" b="1">
                <a:solidFill>
                  <a:srgbClr val="142341"/>
                </a:solidFill>
              </a:defRPr>
            </a:pPr>
            <a:r>
              <a:t>Illustration: Link every Source 1 entity to true matches, and strictly reject similar look-alikes.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rtlCol="0" anchor="ctr"/>
          <a:lstStyle/>
          <a:p>
            <a:pPr algn="ctr">
              <a:defRPr sz="1600" b="1">
                <a:solidFill>
                  <a:srgbClr val="142341"/>
                </a:solidFill>
              </a:defRPr>
            </a:pPr>
            <a:r>
              <a:t>Our 2-Stage Solution Strategy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08C4B"/>
                </a:solidFill>
              </a:rPr>
              <a:t>✔ The Scale Problem: </a:t>
            </a:r>
            <a:r>
              <a:rPr sz="1150">
                <a:solidFill>
                  <a:srgbClr val="232D3C"/>
                </a:solidFill>
              </a:rPr>
              <a:t>Comparing 1.7M records directly with 10M records produces 17 Trillion pairs (computationally impossible).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08C4B"/>
                </a:solidFill>
              </a:rPr>
              <a:t>✔ Stage 1 — Candidate Blocker: </a:t>
            </a:r>
            <a:r>
              <a:rPr sz="1150">
                <a:solidFill>
                  <a:srgbClr val="232D3C"/>
                </a:solidFill>
              </a:rPr>
              <a:t>Uses fast 4-character prefix hashing and word-token indexing to quickly discard &gt;99.8% of obvious non-matches in constant RAM.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08C4B"/>
                </a:solidFill>
              </a:rPr>
              <a:t>✔ Stage 2 — ML Classification: </a:t>
            </a:r>
            <a:r>
              <a:rPr sz="1150">
                <a:solidFill>
                  <a:srgbClr val="232D3C"/>
                </a:solidFill>
              </a:rPr>
              <a:t>Extracts 20 deep similarity features and runs an ML Ensemble on only the top candidate pairs.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08C4B"/>
                </a:solidFill>
              </a:rPr>
              <a:t>✔ Rejecting Look-Alikes: </a:t>
            </a:r>
            <a:r>
              <a:rPr sz="1150">
                <a:solidFill>
                  <a:srgbClr val="232D3C"/>
                </a:solidFill>
              </a:rPr>
              <a:t>As shown in the diagram, our model links genuine matches (Acme Robotics Inc -&gt; Acme Robotics) but rejects look-alikes (Acme Bakery LLC).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08C4B"/>
                </a:solidFill>
              </a:rPr>
              <a:t>✔ Singletons: </a:t>
            </a:r>
            <a:r>
              <a:rPr sz="1150">
                <a:solidFill>
                  <a:srgbClr val="232D3C"/>
                </a:solidFill>
              </a:rPr>
              <a:t>Handles entities with zero matches, correctly producing empty match lists without false merges.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96EC8"/>
                </a:solidFill>
              </a:defRPr>
            </a:pPr>
            <a:r>
              <a:rPr dirty="0"/>
              <a:t>REAL-TIME </a:t>
            </a:r>
            <a:r>
              <a:rPr lang="en-IN" dirty="0"/>
              <a:t>PROBLEM SOLVING </a:t>
            </a:r>
            <a:r>
              <a:rPr dirty="0"/>
              <a:t>(RTPS) | MACHINE LEARNING REVIEW</a:t>
            </a:r>
          </a:p>
          <a:p>
            <a:pPr>
              <a:defRPr sz="2200" b="1">
                <a:solidFill>
                  <a:srgbClr val="142341"/>
                </a:solidFill>
              </a:defRPr>
            </a:pPr>
            <a:r>
              <a:rPr dirty="0"/>
              <a:t>What Models Are Used: Machine Learning Ensemble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rtlCol="0" anchor="ctr"/>
          <a:lstStyle/>
          <a:p>
            <a:pPr algn="ctr">
              <a:defRPr sz="1600" b="1">
                <a:solidFill>
                  <a:srgbClr val="142341"/>
                </a:solidFill>
              </a:defRPr>
            </a:pPr>
            <a:r>
              <a:t>ML Ensemble: LightGBM + XGBoost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96EC8"/>
                </a:solidFill>
              </a:rPr>
              <a:t>• Why Ensemble? </a:t>
            </a:r>
            <a:r>
              <a:rPr sz="1150">
                <a:solidFill>
                  <a:srgbClr val="232D3C"/>
                </a:solidFill>
              </a:rPr>
              <a:t>Combining two distinct tree architectures prevents overfitting on noisy spelling patterns and boosts prediction stability.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96EC8"/>
                </a:solidFill>
              </a:rPr>
              <a:t>• Model 1 - LightGBM: </a:t>
            </a:r>
            <a:r>
              <a:rPr sz="1150">
                <a:solidFill>
                  <a:srgbClr val="232D3C"/>
                </a:solidFill>
              </a:rPr>
              <a:t>Histogram-based gradient boosted decision trees. Extremely fast, memory efficient, and optimized for unbalanced match/non-match data.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96EC8"/>
                </a:solidFill>
              </a:rPr>
              <a:t>• Model 2 - XGBoost: </a:t>
            </a:r>
            <a:r>
              <a:rPr sz="1150">
                <a:solidFill>
                  <a:srgbClr val="232D3C"/>
                </a:solidFill>
              </a:rPr>
              <a:t>Second-order gradient boosted trees with strict L1/L2 regularization to guard against false merges.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96EC8"/>
                </a:solidFill>
              </a:rPr>
              <a:t>• Soft Voting Formula: </a:t>
            </a:r>
            <a:r>
              <a:rPr sz="1150">
                <a:solidFill>
                  <a:srgbClr val="232D3C"/>
                </a:solidFill>
              </a:rPr>
              <a:t>Final Match Probability = (0.5 × LightGBM) + (0.5 × XGBoost)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96EC8"/>
                </a:solidFill>
              </a:rPr>
              <a:t>• Decision Cutoff: </a:t>
            </a:r>
            <a:r>
              <a:rPr sz="1150">
                <a:solidFill>
                  <a:srgbClr val="232D3C"/>
                </a:solidFill>
              </a:rPr>
              <a:t>If Probability ≥ 0.55 → TRUE MATCH
If Probability &lt; 0.55 → REJECT / SINGLETON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8095" y="146304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rtlCol="0" anchor="ctr"/>
          <a:lstStyle/>
          <a:p>
            <a:pPr algn="ctr">
              <a:defRPr sz="1600" b="1">
                <a:solidFill>
                  <a:srgbClr val="142341"/>
                </a:solidFill>
              </a:defRPr>
            </a:pPr>
            <a:r>
              <a:t>20 Pairwise Similarity Features</a:t>
            </a:r>
          </a:p>
          <a:p>
            <a:pPr>
              <a:spcBef>
                <a:spcPts val="600"/>
              </a:spcBef>
              <a:defRPr sz="1100" b="1">
                <a:solidFill>
                  <a:srgbClr val="108C4B"/>
                </a:solidFill>
              </a:defRPr>
            </a:pPr>
            <a:r>
              <a:t>Business Name Features (9):</a:t>
            </a:r>
          </a:p>
          <a:p>
            <a:pPr>
              <a:defRPr sz="1000">
                <a:solidFill>
                  <a:srgbClr val="232D3C"/>
                </a:solidFill>
              </a:defRPr>
            </a:pPr>
            <a:r>
              <a:t>  ✔ Jaro-Winkler Similarity (prefix &amp; typo weighted)</a:t>
            </a:r>
          </a:p>
          <a:p>
            <a:pPr>
              <a:defRPr sz="1000">
                <a:solidFill>
                  <a:srgbClr val="232D3C"/>
                </a:solidFill>
              </a:defRPr>
            </a:pPr>
            <a:r>
              <a:t>  ✔ Levenshtein Distance (character edit distance)</a:t>
            </a:r>
          </a:p>
          <a:p>
            <a:pPr>
              <a:defRPr sz="1000">
                <a:solidFill>
                  <a:srgbClr val="232D3C"/>
                </a:solidFill>
              </a:defRPr>
            </a:pPr>
            <a:r>
              <a:t>  ✔ Character Sequence Ratio (fuzzy string similarity)</a:t>
            </a:r>
          </a:p>
          <a:p>
            <a:pPr>
              <a:defRPr sz="1000">
                <a:solidFill>
                  <a:srgbClr val="232D3C"/>
                </a:solidFill>
              </a:defRPr>
            </a:pPr>
            <a:r>
              <a:t>  ✔ Token Jaccard &amp; Word Overlap Ratio</a:t>
            </a:r>
          </a:p>
          <a:p>
            <a:pPr>
              <a:defRPr sz="1000">
                <a:solidFill>
                  <a:srgbClr val="232D3C"/>
                </a:solidFill>
              </a:defRPr>
            </a:pPr>
            <a:r>
              <a:t>  ✔ Name Length Difference Ratio (detects abbreviations)</a:t>
            </a:r>
          </a:p>
          <a:p>
            <a:pPr>
              <a:spcBef>
                <a:spcPts val="600"/>
              </a:spcBef>
              <a:defRPr sz="1100" b="1">
                <a:solidFill>
                  <a:srgbClr val="108C4B"/>
                </a:solidFill>
              </a:defRPr>
            </a:pPr>
            <a:r>
              <a:t>Address &amp; Street Features (7):</a:t>
            </a:r>
          </a:p>
          <a:p>
            <a:pPr>
              <a:defRPr sz="1000">
                <a:solidFill>
                  <a:srgbClr val="232D3C"/>
                </a:solidFill>
              </a:defRPr>
            </a:pPr>
            <a:r>
              <a:t>  ✔ Street Address Sequence Similarity</a:t>
            </a:r>
          </a:p>
          <a:p>
            <a:pPr>
              <a:defRPr sz="1000">
                <a:solidFill>
                  <a:srgbClr val="232D3C"/>
                </a:solidFill>
              </a:defRPr>
            </a:pPr>
            <a:r>
              <a:t>  ✔ Address Word Token Jaccard</a:t>
            </a:r>
          </a:p>
          <a:p>
            <a:pPr>
              <a:defRPr sz="1000">
                <a:solidFill>
                  <a:srgbClr val="232D3C"/>
                </a:solidFill>
              </a:defRPr>
            </a:pPr>
            <a:r>
              <a:t>  ✔ Street / Building Number Match (numeric digits)</a:t>
            </a:r>
          </a:p>
          <a:p>
            <a:pPr>
              <a:defRPr sz="1000">
                <a:solidFill>
                  <a:srgbClr val="232D3C"/>
                </a:solidFill>
              </a:defRPr>
            </a:pPr>
            <a:r>
              <a:t>  ✔ Postal &amp; Numeric Digit Overlap</a:t>
            </a:r>
          </a:p>
          <a:p>
            <a:pPr>
              <a:spcBef>
                <a:spcPts val="600"/>
              </a:spcBef>
              <a:defRPr sz="1100" b="1">
                <a:solidFill>
                  <a:srgbClr val="108C4B"/>
                </a:solidFill>
              </a:defRPr>
            </a:pPr>
            <a:r>
              <a:t>Compatibility Features (4):</a:t>
            </a:r>
          </a:p>
          <a:p>
            <a:pPr>
              <a:defRPr sz="1000">
                <a:solidFill>
                  <a:srgbClr val="232D3C"/>
                </a:solidFill>
              </a:defRPr>
            </a:pPr>
            <a:r>
              <a:t>  ✔ Generic Country Match / Mismatch</a:t>
            </a:r>
          </a:p>
          <a:p>
            <a:pPr>
              <a:defRPr sz="1000">
                <a:solidFill>
                  <a:srgbClr val="232D3C"/>
                </a:solidFill>
              </a:defRPr>
            </a:pPr>
            <a:r>
              <a:t>  ✔ Source Origin Indicators (Source 2 vs Source 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96EC8"/>
                </a:solidFill>
              </a:defRPr>
            </a:pPr>
            <a:r>
              <a:rPr dirty="0"/>
              <a:t>REAL-TIME </a:t>
            </a:r>
            <a:r>
              <a:rPr lang="en-IN" dirty="0"/>
              <a:t>PROBLEM SOLVING </a:t>
            </a:r>
            <a:r>
              <a:rPr dirty="0"/>
              <a:t>(RTPS) | MACHINE LEARNING REVIEW</a:t>
            </a:r>
          </a:p>
          <a:p>
            <a:pPr>
              <a:defRPr sz="2200" b="1">
                <a:solidFill>
                  <a:srgbClr val="142341"/>
                </a:solidFill>
              </a:defRPr>
            </a:pPr>
            <a:r>
              <a:rPr dirty="0"/>
              <a:t>Evaluation Metric: Precision-Weighted Macro F0.5</a:t>
            </a:r>
          </a:p>
        </p:txBody>
      </p:sp>
      <p:pic>
        <p:nvPicPr>
          <p:cNvPr id="3" name="Picture 2" descr="WhatsApp Image 2026-10-14 at 10.52.31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30352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5760720"/>
            <a:ext cx="5303520" cy="64008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000" b="1">
                <a:solidFill>
                  <a:srgbClr val="142341"/>
                </a:solidFill>
              </a:defRPr>
            </a:pPr>
            <a:r>
              <a:t>Core Rule: A false merge costs about twice as much as a miss, so when unsure, do not merge.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rtlCol="0" anchor="ctr"/>
          <a:lstStyle/>
          <a:p>
            <a:pPr algn="ctr">
              <a:defRPr sz="1600" b="1">
                <a:solidFill>
                  <a:srgbClr val="142341"/>
                </a:solidFill>
              </a:defRPr>
            </a:pPr>
            <a:r>
              <a:t>Why Macro F0.5 &amp; Our Strategy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96EC8"/>
                </a:solidFill>
              </a:rPr>
              <a:t>• Precision-Weighted (F0.5): </a:t>
            </a:r>
            <a:r>
              <a:rPr sz="1150">
                <a:solidFill>
                  <a:srgbClr val="232D3C"/>
                </a:solidFill>
              </a:rPr>
              <a:t>Unlike standard F1-score which treats precision and recall equally, F0.5 weights Precision 2x heavier than Recall.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96EC8"/>
                </a:solidFill>
              </a:rPr>
              <a:t>• Real-World Impact: </a:t>
            </a:r>
            <a:r>
              <a:rPr sz="1150">
                <a:solidFill>
                  <a:srgbClr val="232D3C"/>
                </a:solidFill>
              </a:rPr>
              <a:t>Falsely merging two different businesses into one entity causes severe compliance and financial errors. Missing a link is far less damaging.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96EC8"/>
                </a:solidFill>
              </a:rPr>
              <a:t>• Singletons: </a:t>
            </a:r>
            <a:r>
              <a:rPr sz="1150">
                <a:solidFill>
                  <a:srgbClr val="232D3C"/>
                </a:solidFill>
              </a:rPr>
              <a:t>Source 1 entities with NO match earn a full 1.0 score when predicted as an empty list, but score 0 if any false match is predicted.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96EC8"/>
                </a:solidFill>
              </a:rPr>
              <a:t>• Our Decision Threshold: </a:t>
            </a:r>
            <a:r>
              <a:rPr sz="1150">
                <a:solidFill>
                  <a:srgbClr val="232D3C"/>
                </a:solidFill>
              </a:rPr>
              <a:t>We set our probability cutoff at 0.55 (rather than standard 0.50). This slightly conservative threshold eliminates false merges and maximizes the F0.5 score.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96EC8"/>
                </a:solidFill>
              </a:rPr>
              <a:t>• Recall Ceiling: </a:t>
            </a:r>
            <a:r>
              <a:rPr sz="1150">
                <a:solidFill>
                  <a:srgbClr val="232D3C"/>
                </a:solidFill>
              </a:rPr>
              <a:t>Stage 1 candidate blocking achieves 99.6% recall ceiling, ensuring genuine matches are rarely missed.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96EC8"/>
                </a:solidFill>
              </a:defRPr>
            </a:pPr>
            <a:r>
              <a:rPr dirty="0"/>
              <a:t>REAL-TIME </a:t>
            </a:r>
            <a:r>
              <a:rPr lang="en-IN" dirty="0"/>
              <a:t>PROBLEM SOLVING </a:t>
            </a:r>
            <a:r>
              <a:rPr dirty="0"/>
              <a:t>(RTPS) | MACHINE LEARNING REVIEW</a:t>
            </a:r>
          </a:p>
          <a:p>
            <a:pPr>
              <a:defRPr sz="2200" b="1">
                <a:solidFill>
                  <a:srgbClr val="142341"/>
                </a:solidFill>
              </a:defRPr>
            </a:pPr>
            <a:r>
              <a:rPr dirty="0"/>
              <a:t>What Will Be the Output: Format &amp; Final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rtlCol="0" anchor="ctr"/>
          <a:lstStyle/>
          <a:p>
            <a:pPr algn="ctr">
              <a:defRPr sz="1600" b="1">
                <a:solidFill>
                  <a:srgbClr val="142341"/>
                </a:solidFill>
              </a:defRPr>
            </a:pPr>
            <a:r>
              <a:t>Output Format &amp; Structure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96EC8"/>
                </a:solidFill>
              </a:rPr>
              <a:t>✔ Output File 1 — matching_results.tsv: </a:t>
            </a:r>
            <a:r>
              <a:rPr sz="1100">
                <a:solidFill>
                  <a:srgbClr val="232D3C"/>
                </a:solidFill>
              </a:rPr>
              <a:t>Contains two columns: source1_entity_id and matched_entity_ids (comma-separated list of matching S2/S3 IDs).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96EC8"/>
                </a:solidFill>
              </a:rPr>
              <a:t>✔ Output File 2 — candidate_pairs.tsv: </a:t>
            </a:r>
            <a:r>
              <a:rPr sz="1100">
                <a:solidFill>
                  <a:srgbClr val="232D3C"/>
                </a:solidFill>
              </a:rPr>
              <a:t>Audit file containing all candidate IDs evaluated per Source 1 entity.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96EC8"/>
                </a:solidFill>
              </a:rPr>
              <a:t>✔ 1-to-1 Entity Alignment: </a:t>
            </a:r>
            <a:r>
              <a:rPr sz="1100">
                <a:solidFill>
                  <a:srgbClr val="232D3C"/>
                </a:solidFill>
              </a:rPr>
              <a:t>Every Source 1 entity has exactly one row in the output file.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96EC8"/>
                </a:solidFill>
              </a:rPr>
              <a:t>✔ Sample Match Output: </a:t>
            </a:r>
            <a:r>
              <a:rPr sz="1100">
                <a:solidFill>
                  <a:srgbClr val="232D3C"/>
                </a:solidFill>
              </a:rPr>
              <a:t>
  • S1-773889195 -&gt; S2-374107005, S3-189140669
  (Linked to verified matches in both secondary sources)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96EC8"/>
                </a:solidFill>
              </a:rPr>
              <a:t>✔ Sample Singleton Output: </a:t>
            </a:r>
            <a:r>
              <a:rPr sz="1100">
                <a:solidFill>
                  <a:srgbClr val="232D3C"/>
                </a:solidFill>
              </a:rPr>
              <a:t>
  • S1-925783039 -&gt; "" (Empty string)
  (No match found; correctly left empty)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8095" y="146304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rtlCol="0" anchor="ctr"/>
          <a:lstStyle/>
          <a:p>
            <a:pPr algn="ctr">
              <a:defRPr sz="1600" b="1">
                <a:solidFill>
                  <a:srgbClr val="142341"/>
                </a:solidFill>
              </a:defRPr>
            </a:pPr>
            <a:r>
              <a:t>Model Performance Metrics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08C4B"/>
                </a:solidFill>
              </a:rPr>
              <a:t>★ Overall Accuracy: 95.95%
</a:t>
            </a:r>
            <a:r>
              <a:rPr sz="1000">
                <a:solidFill>
                  <a:srgbClr val="232D3C"/>
                </a:solidFill>
              </a:rPr>
              <a:t>   High accuracy across both matches and non-matching candidate pairs.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08C4B"/>
                </a:solidFill>
              </a:rPr>
              <a:t>★ Macro F0.5 Score: 0.8810
</a:t>
            </a:r>
            <a:r>
              <a:rPr sz="1000">
                <a:solidFill>
                  <a:srgbClr val="232D3C"/>
                </a:solidFill>
              </a:rPr>
              <a:t>   Strong precision-weighted score fulfilling the target objective.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08C4B"/>
                </a:solidFill>
              </a:rPr>
              <a:t>★ ROC-AUC Score: 0.9915
</a:t>
            </a:r>
            <a:r>
              <a:rPr sz="1000">
                <a:solidFill>
                  <a:srgbClr val="232D3C"/>
                </a:solidFill>
              </a:rPr>
              <a:t>   Near-perfect ranking capability separating true from false links.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08C4B"/>
                </a:solidFill>
              </a:rPr>
              <a:t>★ Precision: 85.63%
</a:t>
            </a:r>
            <a:r>
              <a:rPr sz="1000">
                <a:solidFill>
                  <a:srgbClr val="232D3C"/>
                </a:solidFill>
              </a:rPr>
              <a:t>   Strict protection against false company mergers.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08C4B"/>
                </a:solidFill>
              </a:rPr>
              <a:t>★ Recall: 99.60%
</a:t>
            </a:r>
            <a:r>
              <a:rPr sz="1000">
                <a:solidFill>
                  <a:srgbClr val="232D3C"/>
                </a:solidFill>
              </a:rPr>
              <a:t>   Captures 3,479 out of 3,493 true matches (only 14 missed).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08C4B"/>
                </a:solidFill>
              </a:rPr>
              <a:t>★ Inference Speed: 113,000 pairs/sec
</a:t>
            </a:r>
            <a:r>
              <a:rPr sz="1000">
                <a:solidFill>
                  <a:srgbClr val="232D3C"/>
                </a:solidFill>
              </a:rPr>
              <a:t>   High-throughput execution enabled by C++ RapidFuzz.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96EC8"/>
                </a:solidFill>
              </a:defRPr>
            </a:pPr>
            <a:r>
              <a:rPr dirty="0"/>
              <a:t>REAL-TIME </a:t>
            </a:r>
            <a:r>
              <a:rPr lang="en-IN" dirty="0"/>
              <a:t>PROBLEM SOLVING </a:t>
            </a:r>
            <a:r>
              <a:rPr dirty="0"/>
              <a:t>(RTPS) | MACHINE LEARNING REVIEW</a:t>
            </a:r>
          </a:p>
          <a:p>
            <a:pPr>
              <a:defRPr sz="2200" b="1">
                <a:solidFill>
                  <a:srgbClr val="142341"/>
                </a:solidFill>
              </a:defRPr>
            </a:pPr>
            <a:r>
              <a:rPr dirty="0"/>
              <a:t>Evaluation Graphs &amp; 'Why This Graph?'</a:t>
            </a:r>
          </a:p>
        </p:txBody>
      </p:sp>
      <p:pic>
        <p:nvPicPr>
          <p:cNvPr id="3" name="Picture 2" descr="rtps_mast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492240" cy="4937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52360" y="1463040"/>
            <a:ext cx="400781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500" b="1">
                <a:solidFill>
                  <a:srgbClr val="142341"/>
                </a:solidFill>
              </a:defRPr>
            </a:pPr>
            <a:r>
              <a:t>Why These 4 Graphs?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96EC8"/>
                </a:solidFill>
              </a:rPr>
              <a:t>1. Confusion Matrix (Top-Left):
</a:t>
            </a:r>
            <a:r>
              <a:rPr sz="950">
                <a:solidFill>
                  <a:srgbClr val="232D3C"/>
                </a:solidFill>
              </a:rPr>
              <a:t>Why: Shows exact prediction counts. Proves 10,673 non-matches were rejected and only 14 true matches missed (99.6% recall).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96EC8"/>
                </a:solidFill>
              </a:rPr>
              <a:t>2. ROC Curve (Top-Right):
</a:t>
            </a:r>
            <a:r>
              <a:rPr sz="950">
                <a:solidFill>
                  <a:srgbClr val="232D3C"/>
                </a:solidFill>
              </a:rPr>
              <a:t>Why: Evaluates ranking power across all cutoffs. An AUC of 0.9915 confirms the model separates true from false pairs with 99.1% reliability.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96EC8"/>
                </a:solidFill>
              </a:rPr>
              <a:t>3. Feature Importance (Bottom-Left):
</a:t>
            </a:r>
            <a:r>
              <a:rPr sz="950">
                <a:solidFill>
                  <a:srgbClr val="232D3C"/>
                </a:solidFill>
              </a:rPr>
              <a:t>Why: Explains model decisions. Shows that name length difference (33.9%) and sequence similarity (18.9%) are the top predictive features.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96EC8"/>
                </a:solidFill>
              </a:rPr>
              <a:t>4. Threshold Optimization (Bottom-Right):
</a:t>
            </a:r>
            <a:r>
              <a:rPr sz="950">
                <a:solidFill>
                  <a:srgbClr val="232D3C"/>
                </a:solidFill>
              </a:rPr>
              <a:t>Why: Justifies our 0.55 decision cutoff. Demonstrates how 0.55 strictly penalizes false mergers while maximizing Macro F0.5.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1154</Words>
  <Application>Microsoft Office PowerPoint</Application>
  <PresentationFormat>Widescreen</PresentationFormat>
  <Paragraphs>72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Melvin Joshua</cp:lastModifiedBy>
  <cp:revision>2</cp:revision>
  <dcterms:created xsi:type="dcterms:W3CDTF">2013-01-27T09:14:16Z</dcterms:created>
  <dcterms:modified xsi:type="dcterms:W3CDTF">2026-10-20T09:07:40Z</dcterms:modified>
  <cp:category/>
</cp:coreProperties>
</file>