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2011680"/>
          </a:xfrm>
          <a:prstGeom prst="round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REAL-TIME PROJECT SEMINAR (RTPS) - MACHINE LEARNING LAB REVIEW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Multi-Source Business Entity Resolution &amp; Record Linkage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Team: TECHNOBLADE  |  Framework: 2-Stage Hybrid Architecture (Candidate Blocker + LightGBM/XGBoost Ensemble)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834640"/>
            <a:ext cx="5212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600" b="1">
                <a:solidFill>
                  <a:srgbClr val="0F1E3C"/>
                </a:solidFill>
              </a:defRPr>
            </a:pPr>
            <a:r>
              <a:t>Problem Definition &amp; Objective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E8CB4"/>
                </a:solidFill>
              </a:rPr>
              <a:t>• The Challenge: </a:t>
            </a:r>
            <a:r>
              <a:rPr sz="1200">
                <a:solidFill>
                  <a:srgbClr val="1E293B"/>
                </a:solidFill>
              </a:rPr>
              <a:t>Link canonical business records from Source 1 against noisy, unstructured entries in secondary databases (Source 2 &amp; Source 3).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E8CB4"/>
                </a:solidFill>
              </a:rPr>
              <a:t>• Real-World Data Noise: </a:t>
            </a:r>
            <a:r>
              <a:rPr sz="1200">
                <a:solidFill>
                  <a:srgbClr val="1E293B"/>
                </a:solidFill>
              </a:rPr>
              <a:t>Variations in corporate legal suffixes ('Inc' vs 'Incorporated', 'Corp' vs 'Corporation'), typos, missing address parts, and rearranged street tokens.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E8CB4"/>
                </a:solidFill>
              </a:rPr>
              <a:t>• Singleton Entities: </a:t>
            </a:r>
            <a:r>
              <a:rPr sz="1200">
                <a:solidFill>
                  <a:srgbClr val="1E293B"/>
                </a:solidFill>
              </a:rPr>
              <a:t>Substantial portion of Source 1 entities have ZERO matches in secondary sources and must be preserved as empty lists.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E8CB4"/>
                </a:solidFill>
              </a:rPr>
              <a:t>• Extreme Scale: </a:t>
            </a:r>
            <a:r>
              <a:rPr sz="1200">
                <a:solidFill>
                  <a:srgbClr val="1E293B"/>
                </a:solidFill>
              </a:rPr>
              <a:t>12.5M train records and 11.7M test records across global registries.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2834640"/>
            <a:ext cx="5212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600" b="1">
                <a:solidFill>
                  <a:srgbClr val="0F1E3C"/>
                </a:solidFill>
              </a:defRPr>
            </a:pPr>
            <a:r>
              <a:t>Evaluation Objective &amp; Impact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0955D"/>
                </a:solidFill>
              </a:rPr>
              <a:t>• Evaluation Metric (Macro F0.5): </a:t>
            </a:r>
            <a:r>
              <a:rPr sz="1200">
                <a:solidFill>
                  <a:srgbClr val="1E293B"/>
                </a:solidFill>
              </a:rPr>
              <a:t>Precision-weighted metric where False Merges are penalized 2x heavier than False Negatives.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0955D"/>
                </a:solidFill>
              </a:rPr>
              <a:t>• Why F0.5 Matters: </a:t>
            </a:r>
            <a:r>
              <a:rPr sz="1200">
                <a:solidFill>
                  <a:srgbClr val="1E293B"/>
                </a:solidFill>
              </a:rPr>
              <a:t>In commercial and credit verification, falsely merging two different businesses causes catastrophic legal/financial fraud.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0955D"/>
                </a:solidFill>
              </a:rPr>
              <a:t>• Search Space Explosion: </a:t>
            </a:r>
            <a:r>
              <a:rPr sz="1200">
                <a:solidFill>
                  <a:srgbClr val="1E293B"/>
                </a:solidFill>
              </a:rPr>
              <a:t>Direct pairwise comparison (1.73M × 10M) yields 17.3 Trillion pairs — computationally intractable without intelligent blocking.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0955D"/>
                </a:solidFill>
              </a:rPr>
              <a:t>• Deliverables: </a:t>
            </a:r>
            <a:r>
              <a:rPr sz="1200">
                <a:solidFill>
                  <a:srgbClr val="1E293B"/>
                </a:solidFill>
              </a:rPr>
              <a:t>Two output files: matching_results.tsv (final linked IDs) and candidate_pairs.tsv (candidate audit set).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8CB4"/>
                </a:solidFill>
              </a:defRPr>
            </a:pPr>
            <a:r>
              <a:t>REAL-TIME PROJECT SEMINAR (RTPS) | ML LAB REVIEW</a:t>
            </a:r>
          </a:p>
          <a:p>
            <a:pPr>
              <a:defRPr sz="2200" b="1">
                <a:solidFill>
                  <a:srgbClr val="0F1E3C"/>
                </a:solidFill>
              </a:defRPr>
            </a:pPr>
            <a:r>
              <a:t>2-Stage Hybrid Architecture &amp; System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728655" cy="1005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400" b="1">
                <a:solidFill>
                  <a:srgbClr val="0F1E3C"/>
                </a:solidFill>
              </a:defRPr>
            </a:pPr>
            <a:r>
              <a:t>Architectural Breakthrough: Overcoming the 17.3 Trillion Comparison Bottleneck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Direct pairwise comparison of 1.73 Million S1 entities against 10 Million secondary records is impossible. Our 2-Stage solution prunes 99.8% of obvious non-matches in Stage 1, allowing deep C++ feature engineering &amp; ML ensemble modeling in Stage 2.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5212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0E8CB4"/>
                </a:solidFill>
              </a:defRPr>
            </a:pPr>
            <a:r>
              <a:t>STAGE 1: Candidate Blocker (Pre-Filter)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E3C"/>
                </a:solidFill>
              </a:rPr>
              <a:t>✔ Lexical Prefix Hashing: </a:t>
            </a:r>
            <a:r>
              <a:rPr sz="1150">
                <a:solidFill>
                  <a:srgbClr val="1E293B"/>
                </a:solidFill>
              </a:rPr>
              <a:t>Indexes the first 4 normalized characters of entity names to quickly cluster related company names.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E3C"/>
                </a:solidFill>
              </a:rPr>
              <a:t>✔ Word-Token Inverted Index: </a:t>
            </a:r>
            <a:r>
              <a:rPr sz="1150">
                <a:solidFill>
                  <a:srgbClr val="1E293B"/>
                </a:solidFill>
              </a:rPr>
              <a:t>Captures word rearrangements (e.g., 'Retial Logistics' vs 'Logistics Retial').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E3C"/>
                </a:solidFill>
              </a:rPr>
              <a:t>✔ Country Partitioning: </a:t>
            </a:r>
            <a:r>
              <a:rPr sz="1150">
                <a:solidFill>
                  <a:srgbClr val="1E293B"/>
                </a:solidFill>
              </a:rPr>
              <a:t>Partitions records by country, avoiding cross-country false comparisons and keeping memory constant.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E3C"/>
                </a:solidFill>
              </a:rPr>
              <a:t>✔ Elimination Rate: </a:t>
            </a:r>
            <a:r>
              <a:rPr sz="1150">
                <a:solidFill>
                  <a:srgbClr val="1E293B"/>
                </a:solidFill>
              </a:rPr>
              <a:t>Eliminates &gt;99.8% of non-matching pairs, passing only top-12 candidates per S1 entity to Stage 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2743200"/>
            <a:ext cx="5212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10955D"/>
                </a:solidFill>
              </a:defRPr>
            </a:pPr>
            <a:r>
              <a:t>STAGE 2: Machine Learning Ensemble Model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E3C"/>
                </a:solidFill>
              </a:rPr>
              <a:t>✔ Multidimensional Similarity: </a:t>
            </a:r>
            <a:r>
              <a:rPr sz="1150">
                <a:solidFill>
                  <a:srgbClr val="1E293B"/>
                </a:solidFill>
              </a:rPr>
              <a:t>Computes 20 numerical similarity features across business name, address, street numbers, and source origin.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E3C"/>
                </a:solidFill>
              </a:rPr>
              <a:t>✔ Model 1 - LightGBM: </a:t>
            </a:r>
            <a:r>
              <a:rPr sz="1150">
                <a:solidFill>
                  <a:srgbClr val="1E293B"/>
                </a:solidFill>
              </a:rPr>
              <a:t>Histogram-based gradient boosted trees with class-weight rebalancing for high throughput.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E3C"/>
                </a:solidFill>
              </a:rPr>
              <a:t>✔ Model 2 - XGBoost: </a:t>
            </a:r>
            <a:r>
              <a:rPr sz="1150">
                <a:solidFill>
                  <a:srgbClr val="1E293B"/>
                </a:solidFill>
              </a:rPr>
              <a:t>Second-order Hessian regularized trees preventing tree overfitting on rare lexical features.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F1E3C"/>
                </a:solidFill>
              </a:rPr>
              <a:t>✔ Ensemble Strategy: </a:t>
            </a:r>
            <a:r>
              <a:rPr sz="1150">
                <a:solidFill>
                  <a:srgbClr val="1E293B"/>
                </a:solidFill>
              </a:rPr>
              <a:t>Soft probability averaging: P = 0.5 * P(LightGBM) + 0.5 * P(XGBoost), with threshold calibrated at 0.55 for F0.5.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8CB4"/>
                </a:solidFill>
              </a:defRPr>
            </a:pPr>
            <a:r>
              <a:t>REAL-TIME PROJECT SEMINAR (RTPS) | ML LAB REVIEW</a:t>
            </a:r>
          </a:p>
          <a:p>
            <a:pPr>
              <a:defRPr sz="2200" b="1">
                <a:solidFill>
                  <a:srgbClr val="0F1E3C"/>
                </a:solidFill>
              </a:defRPr>
            </a:pPr>
            <a:r>
              <a:t>How It Works: End-to-End Execution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1345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0E8CB4"/>
                </a:solidFill>
              </a:defRPr>
            </a:pPr>
            <a:r>
              <a:t>Step 1: Text Preprocessing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Lowercase conversion, alphanumeric cleaning, and normalization of business legal suffixes (Inc, LLC, Corp, Pvt Ltd) &amp; street abbreviations (St, Rd, Ave).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41345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0F1E3C"/>
                </a:solidFill>
              </a:defRPr>
            </a:pPr>
            <a:r>
              <a:t>Step 2: Country Partitioning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Processes records country-by-country using streaming TSV generators (250K chunks) to guarantee strict memory compliance under 4 GB RAM.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41345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0E8CB4"/>
                </a:solidFill>
              </a:defRPr>
            </a:pPr>
            <a:r>
              <a:t>Step 3: Candidate Blocking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Generates top candidate pairs per S1 record using prefix hashing &amp; token inverted index. Prunes trillions of non-matches down to a few thousand candidates.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341345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0F1E3C"/>
                </a:solidFill>
              </a:defRPr>
            </a:pPr>
            <a:r>
              <a:t>Step 4: RapidFuzz Feature Extraction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C++ accelerated RapidFuzz calculates 20 pairwise similarity scores (Jaro-Winkler, Levenshtein, Token Jaccard, Numeric Street overlap) at &gt;100,000 pairs/sec.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023360"/>
            <a:ext cx="341345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10955D"/>
                </a:solidFill>
              </a:defRPr>
            </a:pPr>
            <a:r>
              <a:t>Step 5: ML Ensemble Prediction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50/50 LightGBM + XGBoost ensemble predicts match probability. If probability &gt;= 0.55 -&gt; MATCH; If &lt; 0.55 or no candidate passes -&gt; SINGLETON.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023360"/>
            <a:ext cx="341345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0F1E3C"/>
                </a:solidFill>
              </a:defRPr>
            </a:pPr>
            <a:r>
              <a:t>Step 6: Submission &amp; Format Validation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Automated verification ensures exactly 1,732,544 rows, 1-to-1 S1 ID match, valid TSV delimiters, and candidate subset compliance.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8CB4"/>
                </a:solidFill>
              </a:defRPr>
            </a:pPr>
            <a:r>
              <a:t>REAL-TIME PROJECT SEMINAR (RTPS) | ML LAB REVIEW</a:t>
            </a:r>
          </a:p>
          <a:p>
            <a:pPr>
              <a:defRPr sz="2200" b="1">
                <a:solidFill>
                  <a:srgbClr val="0F1E3C"/>
                </a:solidFill>
              </a:defRPr>
            </a:pPr>
            <a:r>
              <a:t>Feature Engineering &amp; Model Interpretability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4864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0F1E3C"/>
                </a:solidFill>
              </a:defRPr>
            </a:pPr>
            <a:r>
              <a:t>20 Multidimensional Similarity Features</a:t>
            </a:r>
          </a:p>
          <a:p>
            <a:pPr>
              <a:spcBef>
                <a:spcPts val="600"/>
              </a:spcBef>
              <a:defRPr b="1" sz="1150">
                <a:solidFill>
                  <a:srgbClr val="0E8CB4"/>
                </a:solidFill>
              </a:defRPr>
            </a:pPr>
            <a:r>
              <a:t>Business Name Similarity (9 Features):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• name_jaro_winkler (prefix-weighted typo tolerance)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• name_seq_ratio (character sequence fuzzy matching)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• name_levenshtein_sim (normalized edit distance)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• name_token_jaccard &amp; overlap (word token intersection)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• name_len_diff_ratio (relative length discrepancy)</a:t>
            </a:r>
          </a:p>
          <a:p>
            <a:pPr>
              <a:spcBef>
                <a:spcPts val="600"/>
              </a:spcBef>
              <a:defRPr b="1" sz="1150">
                <a:solidFill>
                  <a:srgbClr val="0E8CB4"/>
                </a:solidFill>
              </a:defRPr>
            </a:pPr>
            <a:r>
              <a:t>Address &amp; Numeric Match (7 Features):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• addr_seq_ratio &amp; addr_exact_match (full street string)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• addr_token_jaccard &amp; addr_token_overlap_ratio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• addr_numeric_exact_match (street/suite number match)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• addr_numeric_overlap_ratio (common postal digits)</a:t>
            </a:r>
          </a:p>
          <a:p>
            <a:pPr>
              <a:spcBef>
                <a:spcPts val="600"/>
              </a:spcBef>
              <a:defRPr b="1" sz="1150">
                <a:solidFill>
                  <a:srgbClr val="0E8CB4"/>
                </a:solidFill>
              </a:defRPr>
            </a:pPr>
            <a:r>
              <a:t>Source &amp; Country Compatibility (4 Features):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• country_match &amp; country_mismatch (open-set generic)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• is_source2 &amp; is_source3 (source indicator flags)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554480"/>
            <a:ext cx="49679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0F1E3C"/>
                </a:solidFill>
              </a:defRPr>
            </a:pPr>
            <a:r>
              <a:t>Top Predictive Features by Split Gain</a:t>
            </a:r>
          </a:p>
          <a:p>
            <a:pPr>
              <a:spcBef>
                <a:spcPts val="500"/>
              </a:spcBef>
            </a:pPr>
            <a:r>
              <a:rPr b="1" sz="1100">
                <a:solidFill>
                  <a:srgbClr val="0F1E3C"/>
                </a:solidFill>
              </a:rPr>
              <a:t>1. name_len_diff_ratio </a:t>
            </a:r>
            <a:r>
              <a:rPr b="1" sz="1100">
                <a:solidFill>
                  <a:srgbClr val="10955D"/>
                </a:solidFill>
              </a:rPr>
              <a:t>[33.96%]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Distinguishes abbreviations from full names</a:t>
            </a:r>
          </a:p>
          <a:p>
            <a:pPr>
              <a:spcBef>
                <a:spcPts val="500"/>
              </a:spcBef>
            </a:pPr>
            <a:r>
              <a:rPr b="1" sz="1100">
                <a:solidFill>
                  <a:srgbClr val="0F1E3C"/>
                </a:solidFill>
              </a:rPr>
              <a:t>2. name_seq_ratio </a:t>
            </a:r>
            <a:r>
              <a:rPr b="1" sz="1100">
                <a:solidFill>
                  <a:srgbClr val="10955D"/>
                </a:solidFill>
              </a:rPr>
              <a:t>[18.95%]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Fuzzy character sequence match score</a:t>
            </a:r>
          </a:p>
          <a:p>
            <a:pPr>
              <a:spcBef>
                <a:spcPts val="500"/>
              </a:spcBef>
            </a:pPr>
            <a:r>
              <a:rPr b="1" sz="1100">
                <a:solidFill>
                  <a:srgbClr val="0F1E3C"/>
                </a:solidFill>
              </a:rPr>
              <a:t>3. addr_seq_ratio </a:t>
            </a:r>
            <a:r>
              <a:rPr b="1" sz="1100">
                <a:solidFill>
                  <a:srgbClr val="10955D"/>
                </a:solidFill>
              </a:rPr>
              <a:t>[11.77%]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Normalized street address similarity</a:t>
            </a:r>
          </a:p>
          <a:p>
            <a:pPr>
              <a:spcBef>
                <a:spcPts val="500"/>
              </a:spcBef>
            </a:pPr>
            <a:r>
              <a:rPr b="1" sz="1100">
                <a:solidFill>
                  <a:srgbClr val="0F1E3C"/>
                </a:solidFill>
              </a:rPr>
              <a:t>4. name_jaro_winkler </a:t>
            </a:r>
            <a:r>
              <a:rPr b="1" sz="1100">
                <a:solidFill>
                  <a:srgbClr val="10955D"/>
                </a:solidFill>
              </a:rPr>
              <a:t>[11.46%]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High prefix weight; handles human typos</a:t>
            </a:r>
          </a:p>
          <a:p>
            <a:pPr>
              <a:spcBef>
                <a:spcPts val="500"/>
              </a:spcBef>
            </a:pPr>
            <a:r>
              <a:rPr b="1" sz="1100">
                <a:solidFill>
                  <a:srgbClr val="0F1E3C"/>
                </a:solidFill>
              </a:rPr>
              <a:t>5. addr_token_overlap_ratio </a:t>
            </a:r>
            <a:r>
              <a:rPr b="1" sz="1100">
                <a:solidFill>
                  <a:srgbClr val="10955D"/>
                </a:solidFill>
              </a:rPr>
              <a:t>[9.53%]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Word overlap in street names</a:t>
            </a:r>
          </a:p>
          <a:p>
            <a:pPr>
              <a:spcBef>
                <a:spcPts val="500"/>
              </a:spcBef>
            </a:pPr>
            <a:r>
              <a:rPr b="1" sz="1100">
                <a:solidFill>
                  <a:srgbClr val="0F1E3C"/>
                </a:solidFill>
              </a:rPr>
              <a:t>6. is_source3 </a:t>
            </a:r>
            <a:r>
              <a:rPr b="1" sz="1100">
                <a:solidFill>
                  <a:srgbClr val="10955D"/>
                </a:solidFill>
              </a:rPr>
              <a:t>[4.82%]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Source indicator bias adjustment</a:t>
            </a:r>
          </a:p>
          <a:p>
            <a:pPr>
              <a:spcBef>
                <a:spcPts val="500"/>
              </a:spcBef>
            </a:pPr>
            <a:r>
              <a:rPr b="1" sz="1100">
                <a:solidFill>
                  <a:srgbClr val="0F1E3C"/>
                </a:solidFill>
              </a:rPr>
              <a:t>7. addr_token_jaccard </a:t>
            </a:r>
            <a:r>
              <a:rPr b="1" sz="1100">
                <a:solidFill>
                  <a:srgbClr val="10955D"/>
                </a:solidFill>
              </a:rPr>
              <a:t>[4.09%]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Word-level Jaccard on address text</a:t>
            </a:r>
          </a:p>
          <a:p>
            <a:pPr>
              <a:spcBef>
                <a:spcPts val="500"/>
              </a:spcBef>
            </a:pPr>
            <a:r>
              <a:rPr b="1" sz="1100">
                <a:solidFill>
                  <a:srgbClr val="0F1E3C"/>
                </a:solidFill>
              </a:rPr>
              <a:t>8. name_token_jaccard </a:t>
            </a:r>
            <a:r>
              <a:rPr b="1" sz="1100">
                <a:solidFill>
                  <a:srgbClr val="10955D"/>
                </a:solidFill>
              </a:rPr>
              <a:t>[2.84%]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 Word-level Jaccard on business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8CB4"/>
                </a:solidFill>
              </a:defRPr>
            </a:pPr>
            <a:r>
              <a:t>REAL-TIME PROJECT SEMINAR (RTPS) | ML LAB REVIEW</a:t>
            </a:r>
          </a:p>
          <a:p>
            <a:pPr>
              <a:defRPr sz="2200" b="1">
                <a:solidFill>
                  <a:srgbClr val="0F1E3C"/>
                </a:solidFill>
              </a:defRPr>
            </a:pPr>
            <a:r>
              <a:t>Experimental Results &amp; Output Verification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737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Accuracy</a:t>
            </a:r>
          </a:p>
          <a:p>
            <a:pPr>
              <a:defRPr sz="2000" b="1">
                <a:solidFill>
                  <a:srgbClr val="10955D"/>
                </a:solidFill>
              </a:defRPr>
            </a:pPr>
            <a:r>
              <a:t>95.95%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Overall correct classifications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06039" y="1554480"/>
            <a:ext cx="1737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Macro F0.5</a:t>
            </a:r>
          </a:p>
          <a:p>
            <a:pPr>
              <a:defRPr sz="2000" b="1">
                <a:solidFill>
                  <a:srgbClr val="0F1E3C"/>
                </a:solidFill>
              </a:defRPr>
            </a:pPr>
            <a:r>
              <a:t>0.8810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Competition primary metric (2x precision)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554480"/>
            <a:ext cx="1737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ROC-AUC</a:t>
            </a:r>
          </a:p>
          <a:p>
            <a:pPr>
              <a:defRPr sz="2000" b="1">
                <a:solidFill>
                  <a:srgbClr val="0E8CB4"/>
                </a:solidFill>
              </a:defRPr>
            </a:pPr>
            <a:r>
              <a:t>0.9915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Near-perfect ranking discrimination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1737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Precision</a:t>
            </a:r>
          </a:p>
          <a:p>
            <a:pPr>
              <a:defRPr sz="2000" b="1">
                <a:solidFill>
                  <a:srgbClr val="10955D"/>
                </a:solidFill>
              </a:defRPr>
            </a:pPr>
            <a:r>
              <a:t>85.63%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Protection against false mergers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39" y="2926080"/>
            <a:ext cx="1737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Recall</a:t>
            </a:r>
          </a:p>
          <a:p>
            <a:pPr>
              <a:defRPr sz="2000" b="1">
                <a:solidFill>
                  <a:srgbClr val="0F1E3C"/>
                </a:solidFill>
              </a:defRPr>
            </a:pPr>
            <a:r>
              <a:t>99.60%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Captures 3,479 / 3,493 true matches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2926080"/>
            <a:ext cx="17373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Throughput</a:t>
            </a:r>
          </a:p>
          <a:p>
            <a:pPr>
              <a:defRPr sz="2000" b="1">
                <a:solidFill>
                  <a:srgbClr val="0E8CB4"/>
                </a:solidFill>
              </a:defRPr>
            </a:pPr>
            <a:r>
              <a:t>113K/s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Pairs evaluated per second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5440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defRPr sz="1300" b="1">
                <a:solidFill>
                  <a:srgbClr val="0F1E3C"/>
                </a:solidFill>
              </a:defRPr>
            </a:pPr>
            <a:r>
              <a:t>Confusion Matrix Breakdown (14,750 Pairs Evaluated)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True Negatives (TN)  : 10,673 (72.4%) non-matches correctly rejected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True Positives (TP)  : 3,479 (23.6%) true business linkages resolved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False Positives (FP) : 584 (4.0%) false linkages strictly minimized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False Negatives (FN) : Only 14 (0.1%) matches missed (99.6% recall)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554480"/>
            <a:ext cx="5013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 b="1">
                <a:solidFill>
                  <a:srgbClr val="0F1E3C"/>
                </a:solidFill>
              </a:defRPr>
            </a:pPr>
            <a:r>
              <a:t>Real-World Entity Disambiguation Cases</a:t>
            </a:r>
          </a:p>
          <a:p>
            <a:pPr>
              <a:spcBef>
                <a:spcPts val="600"/>
              </a:spcBef>
              <a:defRPr b="1" sz="1100">
                <a:solidFill>
                  <a:srgbClr val="0E8CB4"/>
                </a:solidFill>
              </a:defRPr>
            </a:pPr>
            <a:r>
              <a:t>Case 1: Legal Suffix Variation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S1: Technoblade Solutions Corp | Austin, TX</a:t>
            </a:r>
            <a:br/>
            <a:r>
              <a:t>S2: Technoblade Solutions Corporation | Austin, TX</a:t>
            </a:r>
            <a:br/>
            <a:r>
              <a:t>Result: MATCH (Prob: 0.9997) [CORRECT]</a:t>
            </a:r>
          </a:p>
          <a:p>
            <a:pPr>
              <a:spcBef>
                <a:spcPts val="600"/>
              </a:spcBef>
              <a:defRPr b="1" sz="1100">
                <a:solidFill>
                  <a:srgbClr val="0E8CB4"/>
                </a:solidFill>
              </a:defRPr>
            </a:pPr>
            <a:r>
              <a:t>Case 2: Typographical Spelling Error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S1: Omni Retail Logistics | Chicago, IL</a:t>
            </a:r>
            <a:br/>
            <a:r>
              <a:t>S3: Omni Retial Logistcs | Chicago, IL</a:t>
            </a:r>
            <a:br/>
            <a:r>
              <a:t>Result: MATCH (Prob: 0.9998) [CORRECT]</a:t>
            </a:r>
          </a:p>
          <a:p>
            <a:pPr>
              <a:spcBef>
                <a:spcPts val="600"/>
              </a:spcBef>
              <a:defRPr b="1" sz="1100">
                <a:solidFill>
                  <a:srgbClr val="0E8CB4"/>
                </a:solidFill>
              </a:defRPr>
            </a:pPr>
            <a:r>
              <a:t>Case 3: Name Overlap with Different Location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S1: Apex Auto Parts | Buffalo, NY</a:t>
            </a:r>
            <a:br/>
            <a:r>
              <a:t>S2: Apex Auto Body &amp; Repair | Rochester, NY</a:t>
            </a:r>
            <a:br/>
            <a:r>
              <a:t>Result: NON-MATCH (Prob: 0.0002) [CORRECT]</a:t>
            </a:r>
          </a:p>
          <a:p>
            <a:pPr>
              <a:spcBef>
                <a:spcPts val="600"/>
              </a:spcBef>
              <a:defRPr b="1" sz="1100">
                <a:solidFill>
                  <a:srgbClr val="0E8CB4"/>
                </a:solidFill>
              </a:defRPr>
            </a:pPr>
            <a:r>
              <a:t>Case 4: Rearranged Street Address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S1: Blue Horizon Cafe | Ste 200, 500 Lake Blvd</a:t>
            </a:r>
            <a:br/>
            <a:r>
              <a:t>S3: Blue Horizon Cafe | 500 Lake Blvd #200</a:t>
            </a:r>
            <a:br/>
            <a:r>
              <a:t>Result: MATCH (Prob: 0.9999) [CORRECT]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8CB4"/>
                </a:solidFill>
              </a:defRPr>
            </a:pPr>
            <a:r>
              <a:t>REAL-TIME PROJECT SEMINAR (RTPS) | ML LAB REVIEW</a:t>
            </a:r>
          </a:p>
          <a:p>
            <a:pPr>
              <a:defRPr sz="2200" b="1">
                <a:solidFill>
                  <a:srgbClr val="0F1E3C"/>
                </a:solidFill>
              </a:defRPr>
            </a:pPr>
            <a:r>
              <a:t>Evaluation Graphs &amp; Visual Model Dashboard</a:t>
            </a:r>
          </a:p>
        </p:txBody>
      </p:sp>
      <p:pic>
        <p:nvPicPr>
          <p:cNvPr id="3" name="Picture 2" descr="rtps_mast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132320" cy="4937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46720" y="1463040"/>
            <a:ext cx="34134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0F1E3C"/>
                </a:solidFill>
              </a:defRPr>
            </a:pPr>
            <a:r>
              <a:t>Key Takeaways for Review Panel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0955D"/>
                </a:solidFill>
              </a:rPr>
              <a:t>✔ High Precision (85.6%): </a:t>
            </a:r>
            <a:r>
              <a:rPr sz="1000">
                <a:solidFill>
                  <a:srgbClr val="1E293B"/>
                </a:solidFill>
              </a:rPr>
              <a:t>Threshold 0.55 penalizes false mergers, meeting real-world entity resolution standards.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0955D"/>
                </a:solidFill>
              </a:rPr>
              <a:t>✔ Near-Perfect Recall (99.6%): </a:t>
            </a:r>
            <a:r>
              <a:rPr sz="1000">
                <a:solidFill>
                  <a:srgbClr val="1E293B"/>
                </a:solidFill>
              </a:rPr>
              <a:t>Stage 1 candidate blocking guarantees ground-truth matches are not missed.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0955D"/>
                </a:solidFill>
              </a:rPr>
              <a:t>✔ ROC-AUC 0.9915: </a:t>
            </a:r>
            <a:r>
              <a:rPr sz="1000">
                <a:solidFill>
                  <a:srgbClr val="1E293B"/>
                </a:solidFill>
              </a:rPr>
              <a:t>Confirms superior class separation across diverse candidate pairs.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0955D"/>
                </a:solidFill>
              </a:rPr>
              <a:t>✔ Low Latency (113K/s): </a:t>
            </a:r>
            <a:r>
              <a:rPr sz="1000">
                <a:solidFill>
                  <a:srgbClr val="1E293B"/>
                </a:solidFill>
              </a:rPr>
              <a:t>C++ accelerated RapidFuzz feature extraction enables real-time high-throughput processing.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10955D"/>
                </a:solidFill>
              </a:rPr>
              <a:t>✔ 100% Format Compliance: </a:t>
            </a:r>
            <a:r>
              <a:rPr sz="1000">
                <a:solidFill>
                  <a:srgbClr val="1E293B"/>
                </a:solidFill>
              </a:rPr>
              <a:t>Outputs matching_results.tsv and candidate_pairs.tsv satisfy all competition constraints.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